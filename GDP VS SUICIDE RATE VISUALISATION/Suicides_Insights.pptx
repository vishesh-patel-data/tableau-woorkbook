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0" r:id="rId9"/>
    <p:sldId id="266" r:id="rId10"/>
    <p:sldId id="261" r:id="rId11"/>
    <p:sldId id="262" r:id="rId12"/>
    <p:sldId id="263" r:id="rId13"/>
    <p:sldId id="265" r:id="rId14"/>
    <p:sldId id="26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73D46D-0EE0-429E-BE9C-431A0679A3FB}" v="3" dt="2024-03-22T19:49:00.4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8FBAAE-0620-429D-B138-95E19277C236}" type="datetimeFigureOut">
              <a:rPr lang="en-US" smtClean="0"/>
              <a:t>5/3/2024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972AD4C-7336-452C-9E3E-F67A2776C996}"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276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8FBAAE-0620-429D-B138-95E19277C236}" type="datetimeFigureOut">
              <a:rPr lang="en-US" smtClean="0"/>
              <a:t>5/3/2024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972AD4C-7336-452C-9E3E-F67A2776C996}" type="slidenum">
              <a:rPr lang="en-US" smtClean="0"/>
              <a:t>‹#›</a:t>
            </a:fld>
            <a:endParaRPr lang="en-US" dirty="0"/>
          </a:p>
        </p:txBody>
      </p:sp>
    </p:spTree>
    <p:extLst>
      <p:ext uri="{BB962C8B-B14F-4D97-AF65-F5344CB8AC3E}">
        <p14:creationId xmlns:p14="http://schemas.microsoft.com/office/powerpoint/2010/main" val="2654942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8FBAAE-0620-429D-B138-95E19277C236}" type="datetimeFigureOut">
              <a:rPr lang="en-US" smtClean="0"/>
              <a:t>5/3/2024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972AD4C-7336-452C-9E3E-F67A2776C996}"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4082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98FBAAE-0620-429D-B138-95E19277C236}" type="datetimeFigureOut">
              <a:rPr lang="en-US" smtClean="0"/>
              <a:t>5/3/2024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972AD4C-7336-452C-9E3E-F67A2776C996}" type="slidenum">
              <a:rPr lang="en-US" smtClean="0"/>
              <a:t>‹#›</a:t>
            </a:fld>
            <a:endParaRPr lang="en-US" dirty="0"/>
          </a:p>
        </p:txBody>
      </p:sp>
    </p:spTree>
    <p:extLst>
      <p:ext uri="{BB962C8B-B14F-4D97-AF65-F5344CB8AC3E}">
        <p14:creationId xmlns:p14="http://schemas.microsoft.com/office/powerpoint/2010/main" val="42993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8FBAAE-0620-429D-B138-95E19277C236}" type="datetimeFigureOut">
              <a:rPr lang="en-US" smtClean="0"/>
              <a:t>5/3/2024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972AD4C-7336-452C-9E3E-F67A2776C996}" type="slidenum">
              <a:rPr lang="en-US" smtClean="0"/>
              <a:t>‹#›</a:t>
            </a:fld>
            <a:endParaRPr lang="en-US" dirty="0"/>
          </a:p>
        </p:txBody>
      </p:sp>
    </p:spTree>
    <p:extLst>
      <p:ext uri="{BB962C8B-B14F-4D97-AF65-F5344CB8AC3E}">
        <p14:creationId xmlns:p14="http://schemas.microsoft.com/office/powerpoint/2010/main" val="2778130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98FBAAE-0620-429D-B138-95E19277C236}" type="datetimeFigureOut">
              <a:rPr lang="en-US" smtClean="0"/>
              <a:t>5/3/2024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972AD4C-7336-452C-9E3E-F67A2776C996}" type="slidenum">
              <a:rPr lang="en-US" smtClean="0"/>
              <a:t>‹#›</a:t>
            </a:fld>
            <a:endParaRPr lang="en-US" dirty="0"/>
          </a:p>
        </p:txBody>
      </p:sp>
    </p:spTree>
    <p:extLst>
      <p:ext uri="{BB962C8B-B14F-4D97-AF65-F5344CB8AC3E}">
        <p14:creationId xmlns:p14="http://schemas.microsoft.com/office/powerpoint/2010/main" val="2578473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98FBAAE-0620-429D-B138-95E19277C236}" type="datetimeFigureOut">
              <a:rPr lang="en-US" smtClean="0"/>
              <a:t>5/3/2024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9972AD4C-7336-452C-9E3E-F67A2776C996}" type="slidenum">
              <a:rPr lang="en-US" smtClean="0"/>
              <a:t>‹#›</a:t>
            </a:fld>
            <a:endParaRPr lang="en-US" dirty="0"/>
          </a:p>
        </p:txBody>
      </p:sp>
    </p:spTree>
    <p:extLst>
      <p:ext uri="{BB962C8B-B14F-4D97-AF65-F5344CB8AC3E}">
        <p14:creationId xmlns:p14="http://schemas.microsoft.com/office/powerpoint/2010/main" val="1807990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98FBAAE-0620-429D-B138-95E19277C236}" type="datetimeFigureOut">
              <a:rPr lang="en-US" smtClean="0"/>
              <a:t>5/3/2024</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972AD4C-7336-452C-9E3E-F67A2776C996}" type="slidenum">
              <a:rPr lang="en-US" smtClean="0"/>
              <a:t>‹#›</a:t>
            </a:fld>
            <a:endParaRPr lang="en-US" dirty="0"/>
          </a:p>
        </p:txBody>
      </p:sp>
    </p:spTree>
    <p:extLst>
      <p:ext uri="{BB962C8B-B14F-4D97-AF65-F5344CB8AC3E}">
        <p14:creationId xmlns:p14="http://schemas.microsoft.com/office/powerpoint/2010/main" val="2365477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8FBAAE-0620-429D-B138-95E19277C236}" type="datetimeFigureOut">
              <a:rPr lang="en-US" smtClean="0"/>
              <a:t>5/3/2024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972AD4C-7336-452C-9E3E-F67A2776C996}" type="slidenum">
              <a:rPr lang="en-US" smtClean="0"/>
              <a:t>‹#›</a:t>
            </a:fld>
            <a:endParaRPr lang="en-US" dirty="0"/>
          </a:p>
        </p:txBody>
      </p:sp>
    </p:spTree>
    <p:extLst>
      <p:ext uri="{BB962C8B-B14F-4D97-AF65-F5344CB8AC3E}">
        <p14:creationId xmlns:p14="http://schemas.microsoft.com/office/powerpoint/2010/main" val="2658304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8FBAAE-0620-429D-B138-95E19277C236}" type="datetimeFigureOut">
              <a:rPr lang="en-US" smtClean="0"/>
              <a:t>5/3/2024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972AD4C-7336-452C-9E3E-F67A2776C996}" type="slidenum">
              <a:rPr lang="en-US" smtClean="0"/>
              <a:t>‹#›</a:t>
            </a:fld>
            <a:endParaRPr lang="en-US" dirty="0"/>
          </a:p>
        </p:txBody>
      </p:sp>
    </p:spTree>
    <p:extLst>
      <p:ext uri="{BB962C8B-B14F-4D97-AF65-F5344CB8AC3E}">
        <p14:creationId xmlns:p14="http://schemas.microsoft.com/office/powerpoint/2010/main" val="2597368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8FBAAE-0620-429D-B138-95E19277C236}" type="datetimeFigureOut">
              <a:rPr lang="en-US" smtClean="0"/>
              <a:t>5/3/2024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972AD4C-7336-452C-9E3E-F67A2776C996}" type="slidenum">
              <a:rPr lang="en-US" smtClean="0"/>
              <a:t>‹#›</a:t>
            </a:fld>
            <a:endParaRPr lang="en-US" dirty="0"/>
          </a:p>
        </p:txBody>
      </p:sp>
    </p:spTree>
    <p:extLst>
      <p:ext uri="{BB962C8B-B14F-4D97-AF65-F5344CB8AC3E}">
        <p14:creationId xmlns:p14="http://schemas.microsoft.com/office/powerpoint/2010/main" val="4096752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98FBAAE-0620-429D-B138-95E19277C236}" type="datetimeFigureOut">
              <a:rPr lang="en-US" smtClean="0"/>
              <a:t>5/3/2024</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972AD4C-7336-452C-9E3E-F67A2776C996}"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4980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9BEEE-8D0B-4613-9871-E73A2BCB78F7}"/>
              </a:ext>
            </a:extLst>
          </p:cNvPr>
          <p:cNvSpPr>
            <a:spLocks noGrp="1"/>
          </p:cNvSpPr>
          <p:nvPr>
            <p:ph type="ctrTitle"/>
          </p:nvPr>
        </p:nvSpPr>
        <p:spPr/>
        <p:txBody>
          <a:bodyPr>
            <a:normAutofit/>
          </a:bodyPr>
          <a:lstStyle/>
          <a:p>
            <a:r>
              <a:rPr lang="en-US" sz="4000" b="1" i="0" dirty="0">
                <a:solidFill>
                  <a:srgbClr val="0D0D0D"/>
                </a:solidFill>
                <a:effectLst/>
                <a:latin typeface="Söhne"/>
              </a:rPr>
              <a:t>Visual Analytics </a:t>
            </a:r>
            <a:r>
              <a:rPr lang="en-US" sz="4000" b="1" dirty="0">
                <a:solidFill>
                  <a:srgbClr val="0D0D0D"/>
                </a:solidFill>
                <a:latin typeface="Söhne"/>
              </a:rPr>
              <a:t>F</a:t>
            </a:r>
            <a:r>
              <a:rPr lang="en-US" sz="4000" b="1" i="0" dirty="0">
                <a:solidFill>
                  <a:srgbClr val="0D0D0D"/>
                </a:solidFill>
                <a:effectLst/>
                <a:latin typeface="Söhne"/>
              </a:rPr>
              <a:t>inal Project Presentation</a:t>
            </a:r>
            <a:br>
              <a:rPr lang="en-US" sz="4000" b="1" i="0" dirty="0">
                <a:solidFill>
                  <a:srgbClr val="0D0D0D"/>
                </a:solidFill>
                <a:effectLst/>
                <a:latin typeface="Söhne"/>
              </a:rPr>
            </a:br>
            <a:br>
              <a:rPr lang="en-US" sz="4000" b="1" i="0" dirty="0">
                <a:solidFill>
                  <a:srgbClr val="0D0D0D"/>
                </a:solidFill>
                <a:effectLst/>
                <a:latin typeface="Söhne"/>
              </a:rPr>
            </a:br>
            <a:r>
              <a:rPr lang="en-US" sz="4000" b="1" i="0" dirty="0">
                <a:solidFill>
                  <a:srgbClr val="0D0D0D"/>
                </a:solidFill>
                <a:effectLst/>
                <a:latin typeface="Söhne"/>
              </a:rPr>
              <a:t>“Exploring Global Trends in Suicide Rates”</a:t>
            </a:r>
            <a:br>
              <a:rPr lang="en-US" b="1" i="0" dirty="0">
                <a:solidFill>
                  <a:srgbClr val="0D0D0D"/>
                </a:solidFill>
                <a:effectLst/>
                <a:latin typeface="Söhne"/>
              </a:rPr>
            </a:br>
            <a:endParaRPr lang="en-US" i="1" dirty="0"/>
          </a:p>
        </p:txBody>
      </p:sp>
      <p:sp>
        <p:nvSpPr>
          <p:cNvPr id="3" name="Subtitle 2">
            <a:extLst>
              <a:ext uri="{FF2B5EF4-FFF2-40B4-BE49-F238E27FC236}">
                <a16:creationId xmlns:a16="http://schemas.microsoft.com/office/drawing/2014/main" id="{68BDA2F6-8AFE-4A92-8906-25407D09075C}"/>
              </a:ext>
            </a:extLst>
          </p:cNvPr>
          <p:cNvSpPr>
            <a:spLocks noGrp="1"/>
          </p:cNvSpPr>
          <p:nvPr>
            <p:ph type="subTitle" idx="1"/>
          </p:nvPr>
        </p:nvSpPr>
        <p:spPr/>
        <p:txBody>
          <a:bodyPr/>
          <a:lstStyle/>
          <a:p>
            <a:r>
              <a:rPr lang="en-US" dirty="0"/>
              <a:t>NAME: Vishesh Patel</a:t>
            </a:r>
          </a:p>
          <a:p>
            <a:r>
              <a:rPr lang="en-US" dirty="0"/>
              <a:t>Date: 03 may 2024</a:t>
            </a:r>
          </a:p>
        </p:txBody>
      </p:sp>
    </p:spTree>
    <p:extLst>
      <p:ext uri="{BB962C8B-B14F-4D97-AF65-F5344CB8AC3E}">
        <p14:creationId xmlns:p14="http://schemas.microsoft.com/office/powerpoint/2010/main" val="3853118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0937B-12CD-47F6-A6AB-41B6BC0D49FF}"/>
              </a:ext>
            </a:extLst>
          </p:cNvPr>
          <p:cNvSpPr>
            <a:spLocks noGrp="1"/>
          </p:cNvSpPr>
          <p:nvPr>
            <p:ph type="title"/>
          </p:nvPr>
        </p:nvSpPr>
        <p:spPr/>
        <p:txBody>
          <a:bodyPr/>
          <a:lstStyle/>
          <a:p>
            <a:r>
              <a:rPr lang="en-US" b="1" i="0" dirty="0">
                <a:solidFill>
                  <a:srgbClr val="0D0D0D"/>
                </a:solidFill>
                <a:effectLst/>
                <a:latin typeface="Söhne"/>
              </a:rPr>
              <a:t>Introduction</a:t>
            </a:r>
            <a:endParaRPr lang="en-US" dirty="0"/>
          </a:p>
        </p:txBody>
      </p:sp>
      <p:sp>
        <p:nvSpPr>
          <p:cNvPr id="3" name="Content Placeholder 2">
            <a:extLst>
              <a:ext uri="{FF2B5EF4-FFF2-40B4-BE49-F238E27FC236}">
                <a16:creationId xmlns:a16="http://schemas.microsoft.com/office/drawing/2014/main" id="{24EC5816-C7E6-47EB-8756-8716E16B28A6}"/>
              </a:ext>
            </a:extLst>
          </p:cNvPr>
          <p:cNvSpPr>
            <a:spLocks noGrp="1"/>
          </p:cNvSpPr>
          <p:nvPr>
            <p:ph idx="1"/>
          </p:nvPr>
        </p:nvSpPr>
        <p:spPr/>
        <p:txBody>
          <a:bodyPr/>
          <a:lstStyle/>
          <a:p>
            <a:pPr marL="457200" indent="-457200">
              <a:buAutoNum type="arabicPeriod"/>
            </a:pPr>
            <a:r>
              <a:rPr lang="en-US" dirty="0"/>
              <a:t>In this project, I am going to show the suicides that took place in 40 countries from the year 2000 to 2020</a:t>
            </a:r>
          </a:p>
          <a:p>
            <a:pPr marL="457200" indent="-457200">
              <a:buAutoNum type="arabicPeriod"/>
            </a:pPr>
            <a:r>
              <a:rPr lang="en-US" dirty="0"/>
              <a:t> This project will help you all know the complex interplay between the economy, demographics, and temporary factors affecting suicide rates.</a:t>
            </a:r>
          </a:p>
          <a:p>
            <a:pPr marL="457200" indent="-457200">
              <a:buAutoNum type="arabicPeriod"/>
            </a:pPr>
            <a:r>
              <a:rPr lang="en-US" dirty="0"/>
              <a:t>We will also learn the different percentages of generations committing suicides </a:t>
            </a:r>
          </a:p>
          <a:p>
            <a:pPr marL="457200" indent="-457200">
              <a:buAutoNum type="arabicPeriod"/>
            </a:pPr>
            <a:endParaRPr lang="en-US" dirty="0"/>
          </a:p>
          <a:p>
            <a:endParaRPr lang="en-US" dirty="0"/>
          </a:p>
        </p:txBody>
      </p:sp>
    </p:spTree>
    <p:extLst>
      <p:ext uri="{BB962C8B-B14F-4D97-AF65-F5344CB8AC3E}">
        <p14:creationId xmlns:p14="http://schemas.microsoft.com/office/powerpoint/2010/main" val="929702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0AFCE-8D94-40DC-82C8-F566D4A7148E}"/>
              </a:ext>
            </a:extLst>
          </p:cNvPr>
          <p:cNvSpPr>
            <a:spLocks noGrp="1"/>
          </p:cNvSpPr>
          <p:nvPr>
            <p:ph type="title"/>
          </p:nvPr>
        </p:nvSpPr>
        <p:spPr/>
        <p:txBody>
          <a:bodyPr/>
          <a:lstStyle/>
          <a:p>
            <a:r>
              <a:rPr lang="en-US" b="1" dirty="0">
                <a:solidFill>
                  <a:srgbClr val="0D0D0D"/>
                </a:solidFill>
                <a:latin typeface="Söhne"/>
              </a:rPr>
              <a:t>P</a:t>
            </a:r>
            <a:r>
              <a:rPr lang="en-US" b="1" i="0" dirty="0">
                <a:solidFill>
                  <a:srgbClr val="0D0D0D"/>
                </a:solidFill>
                <a:effectLst/>
                <a:latin typeface="Söhne"/>
              </a:rPr>
              <a:t>roject Goals</a:t>
            </a:r>
            <a:endParaRPr lang="en-US" dirty="0"/>
          </a:p>
        </p:txBody>
      </p:sp>
      <p:sp>
        <p:nvSpPr>
          <p:cNvPr id="3" name="Content Placeholder 2">
            <a:extLst>
              <a:ext uri="{FF2B5EF4-FFF2-40B4-BE49-F238E27FC236}">
                <a16:creationId xmlns:a16="http://schemas.microsoft.com/office/drawing/2014/main" id="{00AB642F-DF8D-4D12-B849-6ABF93162509}"/>
              </a:ext>
            </a:extLst>
          </p:cNvPr>
          <p:cNvSpPr>
            <a:spLocks noGrp="1"/>
          </p:cNvSpPr>
          <p:nvPr>
            <p:ph idx="1"/>
          </p:nvPr>
        </p:nvSpPr>
        <p:spPr/>
        <p:txBody>
          <a:bodyPr/>
          <a:lstStyle/>
          <a:p>
            <a:pPr marL="0" indent="0" algn="l">
              <a:buNone/>
            </a:pPr>
            <a:endParaRPr lang="en-US" b="0" i="0" dirty="0">
              <a:solidFill>
                <a:srgbClr val="0D0D0D"/>
              </a:solidFill>
              <a:effectLst/>
              <a:latin typeface="Söhne"/>
            </a:endParaRPr>
          </a:p>
          <a:p>
            <a:pPr algn="l">
              <a:buFont typeface="Arial" panose="020B0604020202020204" pitchFamily="34" charset="0"/>
              <a:buChar char="•"/>
            </a:pPr>
            <a:r>
              <a:rPr lang="en-US" b="0" i="0" dirty="0">
                <a:solidFill>
                  <a:srgbClr val="0D0D0D"/>
                </a:solidFill>
                <a:effectLst/>
                <a:latin typeface="Söhne"/>
              </a:rPr>
              <a:t>1. Analyze Global Suicide Trends</a:t>
            </a:r>
          </a:p>
          <a:p>
            <a:pPr algn="l">
              <a:buFont typeface="Arial" panose="020B0604020202020204" pitchFamily="34" charset="0"/>
              <a:buChar char="•"/>
            </a:pPr>
            <a:r>
              <a:rPr lang="en-US" b="0" i="0" dirty="0">
                <a:solidFill>
                  <a:srgbClr val="0D0D0D"/>
                </a:solidFill>
                <a:effectLst/>
                <a:latin typeface="Söhne"/>
              </a:rPr>
              <a:t>2. Examine Generational Differences</a:t>
            </a:r>
          </a:p>
          <a:p>
            <a:pPr algn="l">
              <a:buFont typeface="Arial" panose="020B0604020202020204" pitchFamily="34" charset="0"/>
              <a:buChar char="•"/>
            </a:pPr>
            <a:r>
              <a:rPr lang="en-US" b="0" i="0" dirty="0">
                <a:solidFill>
                  <a:srgbClr val="0D0D0D"/>
                </a:solidFill>
                <a:effectLst/>
                <a:latin typeface="Söhne"/>
              </a:rPr>
              <a:t>3. Investigate Economic Correlations</a:t>
            </a:r>
          </a:p>
          <a:p>
            <a:pPr algn="l">
              <a:buFont typeface="Arial" panose="020B0604020202020204" pitchFamily="34" charset="0"/>
              <a:buChar char="•"/>
            </a:pPr>
            <a:r>
              <a:rPr lang="en-US" b="0" i="0" dirty="0">
                <a:solidFill>
                  <a:srgbClr val="0D0D0D"/>
                </a:solidFill>
                <a:effectLst/>
                <a:latin typeface="Söhne"/>
              </a:rPr>
              <a:t>4. Comparative Analysis of 40 countries</a:t>
            </a:r>
          </a:p>
          <a:p>
            <a:pPr algn="l">
              <a:buFont typeface="Arial" panose="020B0604020202020204" pitchFamily="34" charset="0"/>
              <a:buChar char="•"/>
            </a:pPr>
            <a:endParaRPr lang="en-US" b="0" i="0" dirty="0">
              <a:solidFill>
                <a:srgbClr val="0D0D0D"/>
              </a:solidFill>
              <a:effectLst/>
              <a:latin typeface="Söhne"/>
            </a:endParaRPr>
          </a:p>
          <a:p>
            <a:pPr algn="l">
              <a:buFont typeface="Arial" panose="020B0604020202020204" pitchFamily="34" charset="0"/>
              <a:buChar char="•"/>
            </a:pPr>
            <a:endParaRPr lang="en-US" b="0" i="0" dirty="0">
              <a:solidFill>
                <a:srgbClr val="0D0D0D"/>
              </a:solidFill>
              <a:effectLst/>
              <a:latin typeface="Söhne"/>
            </a:endParaRPr>
          </a:p>
          <a:p>
            <a:pPr marL="0" indent="0" algn="l">
              <a:buNone/>
            </a:pPr>
            <a:endParaRPr lang="en-US" b="0" i="0" dirty="0">
              <a:solidFill>
                <a:srgbClr val="0D0D0D"/>
              </a:solidFill>
              <a:effectLst/>
              <a:latin typeface="Söhne"/>
            </a:endParaRPr>
          </a:p>
          <a:p>
            <a:endParaRPr lang="en-US" dirty="0"/>
          </a:p>
        </p:txBody>
      </p:sp>
    </p:spTree>
    <p:extLst>
      <p:ext uri="{BB962C8B-B14F-4D97-AF65-F5344CB8AC3E}">
        <p14:creationId xmlns:p14="http://schemas.microsoft.com/office/powerpoint/2010/main" val="787531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B1EEC-BF77-4BFB-A18E-C020F8585034}"/>
              </a:ext>
            </a:extLst>
          </p:cNvPr>
          <p:cNvSpPr>
            <a:spLocks noGrp="1"/>
          </p:cNvSpPr>
          <p:nvPr>
            <p:ph type="title"/>
          </p:nvPr>
        </p:nvSpPr>
        <p:spPr/>
        <p:txBody>
          <a:bodyPr/>
          <a:lstStyle/>
          <a:p>
            <a:r>
              <a:rPr lang="en-US" b="1" i="0" dirty="0">
                <a:solidFill>
                  <a:srgbClr val="0D0D0D"/>
                </a:solidFill>
                <a:effectLst/>
                <a:latin typeface="Söhne"/>
              </a:rPr>
              <a:t>Data Overview</a:t>
            </a:r>
            <a:br>
              <a:rPr lang="en-US" b="1" i="0" dirty="0">
                <a:solidFill>
                  <a:srgbClr val="0D0D0D"/>
                </a:solidFill>
                <a:effectLst/>
                <a:latin typeface="Söhne"/>
              </a:rPr>
            </a:br>
            <a:endParaRPr lang="en-US" dirty="0"/>
          </a:p>
        </p:txBody>
      </p:sp>
      <p:sp>
        <p:nvSpPr>
          <p:cNvPr id="3" name="Content Placeholder 2">
            <a:extLst>
              <a:ext uri="{FF2B5EF4-FFF2-40B4-BE49-F238E27FC236}">
                <a16:creationId xmlns:a16="http://schemas.microsoft.com/office/drawing/2014/main" id="{39DDF615-4138-438C-8AFA-4D69998EC827}"/>
              </a:ext>
            </a:extLst>
          </p:cNvPr>
          <p:cNvSpPr>
            <a:spLocks noGrp="1"/>
          </p:cNvSpPr>
          <p:nvPr>
            <p:ph idx="1"/>
          </p:nvPr>
        </p:nvSpPr>
        <p:spPr/>
        <p:txBody>
          <a:bodyPr/>
          <a:lstStyle/>
          <a:p>
            <a:pPr algn="l">
              <a:buFont typeface="Arial" panose="020B0604020202020204" pitchFamily="34" charset="0"/>
              <a:buChar char="•"/>
            </a:pPr>
            <a:r>
              <a:rPr lang="en-US" b="0" i="0" dirty="0">
                <a:solidFill>
                  <a:srgbClr val="0D0D0D"/>
                </a:solidFill>
                <a:effectLst/>
                <a:latin typeface="Söhne"/>
              </a:rPr>
              <a:t>Overview of the dataset used for the visualization.</a:t>
            </a:r>
          </a:p>
          <a:p>
            <a:pPr algn="l">
              <a:buFont typeface="Arial" panose="020B0604020202020204" pitchFamily="34" charset="0"/>
              <a:buChar char="•"/>
            </a:pPr>
            <a:r>
              <a:rPr lang="en-US" b="0" i="0" dirty="0">
                <a:solidFill>
                  <a:srgbClr val="0D0D0D"/>
                </a:solidFill>
                <a:effectLst/>
                <a:latin typeface="Söhne"/>
              </a:rPr>
              <a:t>This dataset contains data by which we can compare which nation has the highest number of suicides and it has other features such as age, population, GDP of the nation, generation, and many more.</a:t>
            </a:r>
          </a:p>
          <a:p>
            <a:pPr algn="l">
              <a:buFont typeface="Arial" panose="020B0604020202020204" pitchFamily="34" charset="0"/>
              <a:buChar char="•"/>
            </a:pPr>
            <a:r>
              <a:rPr lang="en-US" b="0" i="0" dirty="0">
                <a:solidFill>
                  <a:srgbClr val="0D0D0D"/>
                </a:solidFill>
                <a:effectLst/>
                <a:latin typeface="Söhne"/>
              </a:rPr>
              <a:t>Suicide Rates Overview (1985 to 2021) (kaggle.com)</a:t>
            </a:r>
          </a:p>
          <a:p>
            <a:pPr algn="l">
              <a:buFont typeface="Arial" panose="020B0604020202020204" pitchFamily="34" charset="0"/>
              <a:buChar char="•"/>
            </a:pPr>
            <a:r>
              <a:rPr lang="en-US" b="0" i="0" dirty="0">
                <a:solidFill>
                  <a:srgbClr val="0D0D0D"/>
                </a:solidFill>
                <a:effectLst/>
                <a:latin typeface="Söhne"/>
              </a:rPr>
              <a:t>Data cleaning and data reduction.</a:t>
            </a:r>
          </a:p>
          <a:p>
            <a:endParaRPr lang="en-US" dirty="0"/>
          </a:p>
        </p:txBody>
      </p:sp>
    </p:spTree>
    <p:extLst>
      <p:ext uri="{BB962C8B-B14F-4D97-AF65-F5344CB8AC3E}">
        <p14:creationId xmlns:p14="http://schemas.microsoft.com/office/powerpoint/2010/main" val="796623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8790E-8A47-4218-9B7C-E85D9B18729A}"/>
              </a:ext>
            </a:extLst>
          </p:cNvPr>
          <p:cNvSpPr>
            <a:spLocks noGrp="1"/>
          </p:cNvSpPr>
          <p:nvPr>
            <p:ph type="title"/>
          </p:nvPr>
        </p:nvSpPr>
        <p:spPr/>
        <p:txBody>
          <a:bodyPr>
            <a:normAutofit fontScale="90000"/>
          </a:bodyPr>
          <a:lstStyle/>
          <a:p>
            <a:r>
              <a:rPr lang="en-US" b="1" i="0" dirty="0">
                <a:solidFill>
                  <a:srgbClr val="0D0D0D"/>
                </a:solidFill>
                <a:effectLst/>
                <a:latin typeface="Söhne"/>
              </a:rPr>
              <a:t>Visualization Walkthrough </a:t>
            </a:r>
            <a:r>
              <a:rPr lang="en-US" b="1" dirty="0">
                <a:solidFill>
                  <a:srgbClr val="0D0D0D"/>
                </a:solidFill>
                <a:latin typeface="Söhne"/>
              </a:rPr>
              <a:t>In Dashboard</a:t>
            </a:r>
            <a:br>
              <a:rPr lang="en-US" b="1" i="0" dirty="0">
                <a:solidFill>
                  <a:srgbClr val="0D0D0D"/>
                </a:solidFill>
                <a:effectLst/>
                <a:latin typeface="Söhne"/>
              </a:rPr>
            </a:br>
            <a:endParaRPr lang="en-US" dirty="0"/>
          </a:p>
        </p:txBody>
      </p:sp>
      <p:sp>
        <p:nvSpPr>
          <p:cNvPr id="3" name="Content Placeholder 2">
            <a:extLst>
              <a:ext uri="{FF2B5EF4-FFF2-40B4-BE49-F238E27FC236}">
                <a16:creationId xmlns:a16="http://schemas.microsoft.com/office/drawing/2014/main" id="{91A73DB9-B5E3-48A9-8E37-DCB5CBD1C741}"/>
              </a:ext>
            </a:extLst>
          </p:cNvPr>
          <p:cNvSpPr>
            <a:spLocks noGrp="1"/>
          </p:cNvSpPr>
          <p:nvPr>
            <p:ph idx="1"/>
          </p:nvPr>
        </p:nvSpPr>
        <p:spPr/>
        <p:txBody>
          <a:bodyPr/>
          <a:lstStyle/>
          <a:p>
            <a:pPr marL="0" indent="0" algn="l">
              <a:buNone/>
            </a:pPr>
            <a:endParaRPr lang="en-US" b="0" i="0" dirty="0">
              <a:solidFill>
                <a:srgbClr val="0D0D0D"/>
              </a:solidFill>
              <a:effectLst/>
              <a:latin typeface="Söhne"/>
            </a:endParaRPr>
          </a:p>
          <a:p>
            <a:pPr algn="l">
              <a:buFont typeface="Arial" panose="020B0604020202020204" pitchFamily="34" charset="0"/>
              <a:buChar char="•"/>
            </a:pPr>
            <a:r>
              <a:rPr lang="en-US" dirty="0">
                <a:solidFill>
                  <a:srgbClr val="0D0D0D"/>
                </a:solidFill>
                <a:latin typeface="Söhne"/>
              </a:rPr>
              <a:t> In the top Block we can see the overview of all the Factors </a:t>
            </a:r>
            <a:r>
              <a:rPr lang="en-US" b="0" i="0" dirty="0">
                <a:solidFill>
                  <a:srgbClr val="0D0D0D"/>
                </a:solidFill>
                <a:effectLst/>
                <a:latin typeface="Söhne"/>
              </a:rPr>
              <a:t> </a:t>
            </a:r>
          </a:p>
          <a:p>
            <a:pPr algn="l">
              <a:buFont typeface="Arial" panose="020B0604020202020204" pitchFamily="34" charset="0"/>
              <a:buChar char="•"/>
            </a:pPr>
            <a:r>
              <a:rPr lang="en-US" dirty="0">
                <a:solidFill>
                  <a:srgbClr val="0D0D0D"/>
                </a:solidFill>
                <a:latin typeface="Söhne"/>
              </a:rPr>
              <a:t> In the Pie Chart we can see the percentage of different generations committing suicides </a:t>
            </a:r>
          </a:p>
          <a:p>
            <a:pPr algn="l">
              <a:buFont typeface="Arial" panose="020B0604020202020204" pitchFamily="34" charset="0"/>
              <a:buChar char="•"/>
            </a:pPr>
            <a:r>
              <a:rPr lang="en-US" b="0" i="0" dirty="0">
                <a:solidFill>
                  <a:srgbClr val="0D0D0D"/>
                </a:solidFill>
                <a:effectLst/>
                <a:latin typeface="Söhne"/>
              </a:rPr>
              <a:t> </a:t>
            </a:r>
            <a:r>
              <a:rPr lang="en-US" dirty="0">
                <a:solidFill>
                  <a:srgbClr val="0D0D0D"/>
                </a:solidFill>
                <a:latin typeface="Söhne"/>
              </a:rPr>
              <a:t>Then we have the bar graph where we can see the GDP roleplay in the Suicides </a:t>
            </a:r>
          </a:p>
          <a:p>
            <a:pPr algn="l">
              <a:buFont typeface="Arial" panose="020B0604020202020204" pitchFamily="34" charset="0"/>
              <a:buChar char="•"/>
            </a:pPr>
            <a:r>
              <a:rPr lang="en-US" dirty="0">
                <a:solidFill>
                  <a:srgbClr val="0D0D0D"/>
                </a:solidFill>
                <a:latin typeface="Söhne"/>
              </a:rPr>
              <a:t> We have the world map to toggle around and to see the information of the specific Nation</a:t>
            </a:r>
          </a:p>
          <a:p>
            <a:pPr algn="l">
              <a:buFont typeface="Arial" panose="020B0604020202020204" pitchFamily="34" charset="0"/>
              <a:buChar char="•"/>
            </a:pPr>
            <a:r>
              <a:rPr lang="en-US" dirty="0">
                <a:solidFill>
                  <a:srgbClr val="0D0D0D"/>
                </a:solidFill>
                <a:latin typeface="Söhne"/>
              </a:rPr>
              <a:t> At the bottom we can compare countries through various fields with the help of line graph</a:t>
            </a:r>
          </a:p>
          <a:p>
            <a:pPr algn="l">
              <a:buFont typeface="Arial" panose="020B0604020202020204" pitchFamily="34" charset="0"/>
              <a:buChar char="•"/>
            </a:pPr>
            <a:endParaRPr lang="en-US" b="0" i="0" dirty="0">
              <a:solidFill>
                <a:srgbClr val="0D0D0D"/>
              </a:solidFill>
              <a:effectLst/>
              <a:latin typeface="Söhne"/>
            </a:endParaRPr>
          </a:p>
        </p:txBody>
      </p:sp>
    </p:spTree>
    <p:extLst>
      <p:ext uri="{BB962C8B-B14F-4D97-AF65-F5344CB8AC3E}">
        <p14:creationId xmlns:p14="http://schemas.microsoft.com/office/powerpoint/2010/main" val="1930643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01ADA-DF5B-1B9C-F3EC-DE17BF084EB6}"/>
              </a:ext>
            </a:extLst>
          </p:cNvPr>
          <p:cNvSpPr>
            <a:spLocks noGrp="1"/>
          </p:cNvSpPr>
          <p:nvPr>
            <p:ph type="title"/>
          </p:nvPr>
        </p:nvSpPr>
        <p:spPr/>
        <p:txBody>
          <a:bodyPr/>
          <a:lstStyle/>
          <a:p>
            <a:r>
              <a:rPr lang="en-IN" b="1" dirty="0">
                <a:latin typeface="Söhne"/>
              </a:rPr>
              <a:t>DIFFERENT TYPES OF GENERATION </a:t>
            </a:r>
          </a:p>
        </p:txBody>
      </p:sp>
      <p:sp>
        <p:nvSpPr>
          <p:cNvPr id="3" name="Content Placeholder 2">
            <a:extLst>
              <a:ext uri="{FF2B5EF4-FFF2-40B4-BE49-F238E27FC236}">
                <a16:creationId xmlns:a16="http://schemas.microsoft.com/office/drawing/2014/main" id="{59E0F78D-CDE2-19D0-5243-6BF1CB8FDE59}"/>
              </a:ext>
            </a:extLst>
          </p:cNvPr>
          <p:cNvSpPr>
            <a:spLocks noGrp="1"/>
          </p:cNvSpPr>
          <p:nvPr>
            <p:ph idx="1"/>
          </p:nvPr>
        </p:nvSpPr>
        <p:spPr>
          <a:xfrm>
            <a:off x="1194318" y="1845734"/>
            <a:ext cx="9961362" cy="4023360"/>
          </a:xfrm>
        </p:spPr>
        <p:txBody>
          <a:bodyPr>
            <a:noAutofit/>
          </a:bodyPr>
          <a:lstStyle/>
          <a:p>
            <a:pPr marL="0" indent="0">
              <a:buNone/>
            </a:pPr>
            <a:r>
              <a:rPr lang="en-US" sz="2800" dirty="0">
                <a:solidFill>
                  <a:schemeClr val="bg2">
                    <a:lumMod val="50000"/>
                  </a:schemeClr>
                </a:solidFill>
              </a:rPr>
              <a:t>GI Generation</a:t>
            </a:r>
            <a:r>
              <a:rPr lang="en-US" sz="2800" dirty="0"/>
              <a:t>: Roughly 75+ years </a:t>
            </a:r>
          </a:p>
          <a:p>
            <a:pPr marL="0" indent="0">
              <a:buNone/>
            </a:pPr>
            <a:r>
              <a:rPr lang="en-US" sz="2800" dirty="0">
                <a:solidFill>
                  <a:schemeClr val="bg2">
                    <a:lumMod val="50000"/>
                  </a:schemeClr>
                </a:solidFill>
              </a:rPr>
              <a:t>Silent Generation</a:t>
            </a:r>
            <a:r>
              <a:rPr lang="en-US" sz="2800" dirty="0"/>
              <a:t>: Age Range: Roughly 55–74 years old</a:t>
            </a:r>
          </a:p>
          <a:p>
            <a:pPr marL="0" indent="0">
              <a:buNone/>
            </a:pPr>
            <a:r>
              <a:rPr lang="en-US" sz="2800" dirty="0">
                <a:solidFill>
                  <a:schemeClr val="bg2">
                    <a:lumMod val="50000"/>
                  </a:schemeClr>
                </a:solidFill>
              </a:rPr>
              <a:t>Baby Boomers</a:t>
            </a:r>
            <a:r>
              <a:rPr lang="en-US" sz="2800" dirty="0"/>
              <a:t>: Roughly 35–54years old</a:t>
            </a:r>
          </a:p>
          <a:p>
            <a:pPr marL="0" indent="0">
              <a:buNone/>
            </a:pPr>
            <a:r>
              <a:rPr lang="en-US" sz="2800" dirty="0">
                <a:solidFill>
                  <a:schemeClr val="bg2">
                    <a:lumMod val="50000"/>
                  </a:schemeClr>
                </a:solidFill>
              </a:rPr>
              <a:t>Generation</a:t>
            </a:r>
            <a:r>
              <a:rPr lang="en-US" sz="2800" dirty="0"/>
              <a:t> </a:t>
            </a:r>
            <a:r>
              <a:rPr lang="en-US" sz="2800" dirty="0">
                <a:solidFill>
                  <a:schemeClr val="bg2">
                    <a:lumMod val="50000"/>
                  </a:schemeClr>
                </a:solidFill>
              </a:rPr>
              <a:t>X</a:t>
            </a:r>
            <a:r>
              <a:rPr lang="en-US" sz="2800" dirty="0"/>
              <a:t>: Roughly 25–34 years old</a:t>
            </a:r>
          </a:p>
          <a:p>
            <a:pPr marL="0" indent="0">
              <a:buNone/>
            </a:pPr>
            <a:r>
              <a:rPr lang="en-US" sz="2800" dirty="0">
                <a:solidFill>
                  <a:schemeClr val="bg2">
                    <a:lumMod val="50000"/>
                  </a:schemeClr>
                </a:solidFill>
              </a:rPr>
              <a:t>Millennials</a:t>
            </a:r>
            <a:r>
              <a:rPr lang="en-US" sz="2800" dirty="0"/>
              <a:t> </a:t>
            </a:r>
            <a:r>
              <a:rPr lang="en-US" sz="2800" dirty="0">
                <a:solidFill>
                  <a:schemeClr val="bg2">
                    <a:lumMod val="50000"/>
                  </a:schemeClr>
                </a:solidFill>
              </a:rPr>
              <a:t>(Generation</a:t>
            </a:r>
            <a:r>
              <a:rPr lang="en-US" sz="2800" dirty="0"/>
              <a:t> </a:t>
            </a:r>
            <a:r>
              <a:rPr lang="en-US" sz="2800" dirty="0">
                <a:solidFill>
                  <a:schemeClr val="bg2">
                    <a:lumMod val="50000"/>
                  </a:schemeClr>
                </a:solidFill>
              </a:rPr>
              <a:t>Y):</a:t>
            </a:r>
            <a:r>
              <a:rPr lang="en-US" sz="2800" dirty="0"/>
              <a:t>  Roughly 5–14 years old</a:t>
            </a:r>
          </a:p>
          <a:p>
            <a:pPr marL="0" indent="0">
              <a:buNone/>
            </a:pPr>
            <a:r>
              <a:rPr lang="en-US" sz="2800" dirty="0">
                <a:solidFill>
                  <a:schemeClr val="bg2">
                    <a:lumMod val="50000"/>
                  </a:schemeClr>
                </a:solidFill>
              </a:rPr>
              <a:t>Generation</a:t>
            </a:r>
            <a:r>
              <a:rPr lang="en-US" sz="2800" dirty="0"/>
              <a:t> </a:t>
            </a:r>
            <a:r>
              <a:rPr lang="en-US" sz="2800" dirty="0">
                <a:solidFill>
                  <a:schemeClr val="bg2">
                    <a:lumMod val="50000"/>
                  </a:schemeClr>
                </a:solidFill>
              </a:rPr>
              <a:t>Z</a:t>
            </a:r>
            <a:r>
              <a:rPr lang="en-US" sz="2800" dirty="0"/>
              <a:t>:  Roughly 5–14 years old</a:t>
            </a:r>
            <a:endParaRPr lang="en-IN" sz="2800" dirty="0"/>
          </a:p>
        </p:txBody>
      </p:sp>
    </p:spTree>
    <p:extLst>
      <p:ext uri="{BB962C8B-B14F-4D97-AF65-F5344CB8AC3E}">
        <p14:creationId xmlns:p14="http://schemas.microsoft.com/office/powerpoint/2010/main" val="3668935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4E946-AA62-40DE-8D14-BFE170C4E55A}"/>
              </a:ext>
            </a:extLst>
          </p:cNvPr>
          <p:cNvSpPr>
            <a:spLocks noGrp="1"/>
          </p:cNvSpPr>
          <p:nvPr>
            <p:ph type="title"/>
          </p:nvPr>
        </p:nvSpPr>
        <p:spPr/>
        <p:txBody>
          <a:bodyPr/>
          <a:lstStyle/>
          <a:p>
            <a:r>
              <a:rPr lang="en-US" b="1" i="0" dirty="0">
                <a:solidFill>
                  <a:srgbClr val="0D0D0D"/>
                </a:solidFill>
                <a:effectLst/>
                <a:latin typeface="Söhne"/>
              </a:rPr>
              <a:t>Insights and Analysis</a:t>
            </a:r>
            <a:br>
              <a:rPr lang="en-US" b="1" i="0" dirty="0">
                <a:solidFill>
                  <a:srgbClr val="0D0D0D"/>
                </a:solidFill>
                <a:effectLst/>
                <a:latin typeface="Söhne"/>
              </a:rPr>
            </a:br>
            <a:endParaRPr lang="en-US" dirty="0"/>
          </a:p>
        </p:txBody>
      </p:sp>
      <p:sp>
        <p:nvSpPr>
          <p:cNvPr id="3" name="Content Placeholder 2">
            <a:extLst>
              <a:ext uri="{FF2B5EF4-FFF2-40B4-BE49-F238E27FC236}">
                <a16:creationId xmlns:a16="http://schemas.microsoft.com/office/drawing/2014/main" id="{A280B0D0-78EA-4887-8220-E48C78FF4157}"/>
              </a:ext>
            </a:extLst>
          </p:cNvPr>
          <p:cNvSpPr>
            <a:spLocks noGrp="1"/>
          </p:cNvSpPr>
          <p:nvPr>
            <p:ph idx="1"/>
          </p:nvPr>
        </p:nvSpPr>
        <p:spPr>
          <a:xfrm>
            <a:off x="1097280" y="1386348"/>
            <a:ext cx="10058400" cy="4482746"/>
          </a:xfrm>
        </p:spPr>
        <p:txBody>
          <a:bodyPr/>
          <a:lstStyle/>
          <a:p>
            <a:pPr marL="0" indent="0" algn="l">
              <a:buNone/>
            </a:pPr>
            <a:endParaRPr lang="en-US" b="0" i="0" dirty="0">
              <a:solidFill>
                <a:srgbClr val="0D0D0D"/>
              </a:solidFill>
              <a:effectLst/>
              <a:latin typeface="Söhne"/>
            </a:endParaRPr>
          </a:p>
          <a:p>
            <a:pPr algn="l">
              <a:buFont typeface="Arial" panose="020B0604020202020204" pitchFamily="34" charset="0"/>
              <a:buChar char="•"/>
            </a:pPr>
            <a:r>
              <a:rPr lang="en-US" dirty="0">
                <a:solidFill>
                  <a:srgbClr val="0D0D0D"/>
                </a:solidFill>
                <a:latin typeface="Söhne"/>
              </a:rPr>
              <a:t> We can conclude from the visualization that most of the suicides that have taken place were of the Boomer generation and the least was of the Generation Z </a:t>
            </a:r>
          </a:p>
          <a:p>
            <a:pPr algn="l">
              <a:buFont typeface="Arial" panose="020B0604020202020204" pitchFamily="34" charset="0"/>
              <a:buChar char="•"/>
            </a:pPr>
            <a:r>
              <a:rPr lang="en-US" dirty="0">
                <a:solidFill>
                  <a:srgbClr val="0D0D0D"/>
                </a:solidFill>
                <a:latin typeface="Söhne"/>
              </a:rPr>
              <a:t> In the Aggregate of suicides no, Approximately 70-75%  were Male </a:t>
            </a:r>
          </a:p>
          <a:p>
            <a:pPr algn="l">
              <a:buFont typeface="Arial" panose="020B0604020202020204" pitchFamily="34" charset="0"/>
              <a:buChar char="•"/>
            </a:pPr>
            <a:r>
              <a:rPr lang="en-US" dirty="0">
                <a:solidFill>
                  <a:srgbClr val="0D0D0D"/>
                </a:solidFill>
                <a:latin typeface="Söhne"/>
              </a:rPr>
              <a:t>  We observed the effect of GDP PER CAPITA on the Suicides no</a:t>
            </a:r>
          </a:p>
          <a:p>
            <a:pPr algn="l">
              <a:buFont typeface="Arial" panose="020B0604020202020204" pitchFamily="34" charset="0"/>
              <a:buChar char="•"/>
            </a:pPr>
            <a:endParaRPr lang="en-US" b="0" i="0" dirty="0">
              <a:solidFill>
                <a:srgbClr val="0D0D0D"/>
              </a:solidFill>
              <a:effectLst/>
              <a:latin typeface="Söhne"/>
            </a:endParaRPr>
          </a:p>
          <a:p>
            <a:endParaRPr lang="en-US" dirty="0"/>
          </a:p>
        </p:txBody>
      </p:sp>
    </p:spTree>
    <p:extLst>
      <p:ext uri="{BB962C8B-B14F-4D97-AF65-F5344CB8AC3E}">
        <p14:creationId xmlns:p14="http://schemas.microsoft.com/office/powerpoint/2010/main" val="2203853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6519E-0C0D-43E5-9258-887B355DB95E}"/>
              </a:ext>
            </a:extLst>
          </p:cNvPr>
          <p:cNvSpPr>
            <a:spLocks noGrp="1"/>
          </p:cNvSpPr>
          <p:nvPr>
            <p:ph type="title"/>
          </p:nvPr>
        </p:nvSpPr>
        <p:spPr>
          <a:xfrm>
            <a:off x="1097280" y="286603"/>
            <a:ext cx="10124336" cy="1450757"/>
          </a:xfrm>
        </p:spPr>
        <p:txBody>
          <a:bodyPr/>
          <a:lstStyle/>
          <a:p>
            <a:r>
              <a:rPr lang="en-US" b="1" i="0" dirty="0">
                <a:solidFill>
                  <a:srgbClr val="0D0D0D"/>
                </a:solidFill>
                <a:effectLst/>
                <a:latin typeface="Söhne"/>
              </a:rPr>
              <a:t>Challenges Faced</a:t>
            </a:r>
            <a:br>
              <a:rPr lang="en-US" b="1" i="0" dirty="0">
                <a:solidFill>
                  <a:srgbClr val="0D0D0D"/>
                </a:solidFill>
                <a:effectLst/>
                <a:latin typeface="Söhne"/>
              </a:rPr>
            </a:br>
            <a:endParaRPr lang="en-US" dirty="0"/>
          </a:p>
        </p:txBody>
      </p:sp>
      <p:sp>
        <p:nvSpPr>
          <p:cNvPr id="3" name="Content Placeholder 2">
            <a:extLst>
              <a:ext uri="{FF2B5EF4-FFF2-40B4-BE49-F238E27FC236}">
                <a16:creationId xmlns:a16="http://schemas.microsoft.com/office/drawing/2014/main" id="{F029F34F-317F-474A-927D-B747EB20B743}"/>
              </a:ext>
            </a:extLst>
          </p:cNvPr>
          <p:cNvSpPr>
            <a:spLocks noGrp="1"/>
          </p:cNvSpPr>
          <p:nvPr>
            <p:ph idx="1"/>
          </p:nvPr>
        </p:nvSpPr>
        <p:spPr>
          <a:xfrm>
            <a:off x="970384" y="1737360"/>
            <a:ext cx="10185296" cy="4131734"/>
          </a:xfrm>
        </p:spPr>
        <p:txBody>
          <a:bodyPr/>
          <a:lstStyle/>
          <a:p>
            <a:pPr marL="0" indent="0" algn="l">
              <a:buNone/>
            </a:pPr>
            <a:endParaRPr lang="en-US" b="0" i="0" dirty="0">
              <a:solidFill>
                <a:srgbClr val="0D0D0D"/>
              </a:solidFill>
              <a:effectLst/>
              <a:latin typeface="Söhne"/>
            </a:endParaRPr>
          </a:p>
          <a:p>
            <a:pPr>
              <a:buFont typeface="Arial" panose="020B0604020202020204" pitchFamily="34" charset="0"/>
              <a:buChar char="•"/>
            </a:pPr>
            <a:r>
              <a:rPr lang="en-US" dirty="0">
                <a:solidFill>
                  <a:srgbClr val="0D0D0D"/>
                </a:solidFill>
                <a:latin typeface="Söhne"/>
              </a:rPr>
              <a:t> The first challenge I faced was to clean the data and the interesting aspect was which country to select for the visualization so I selected the top 40 countries in terms of suicide rates </a:t>
            </a:r>
          </a:p>
          <a:p>
            <a:pPr>
              <a:buFont typeface="Arial" panose="020B0604020202020204" pitchFamily="34" charset="0"/>
              <a:buChar char="•"/>
            </a:pPr>
            <a:r>
              <a:rPr lang="en-US" b="0" i="0" dirty="0">
                <a:solidFill>
                  <a:srgbClr val="0D0D0D"/>
                </a:solidFill>
                <a:effectLst/>
                <a:latin typeface="Söhne"/>
              </a:rPr>
              <a:t> Then I proceed with the various calculation fields such as Continent, male &amp; female percentages, suicide percentages, and so on. </a:t>
            </a:r>
          </a:p>
          <a:p>
            <a:pPr>
              <a:buFont typeface="Arial" panose="020B0604020202020204" pitchFamily="34" charset="0"/>
              <a:buChar char="•"/>
            </a:pPr>
            <a:r>
              <a:rPr lang="en-US" b="0" i="0" dirty="0">
                <a:solidFill>
                  <a:srgbClr val="0D0D0D"/>
                </a:solidFill>
                <a:effectLst/>
                <a:latin typeface="Söhne"/>
              </a:rPr>
              <a:t> </a:t>
            </a:r>
            <a:r>
              <a:rPr lang="en-US" dirty="0">
                <a:solidFill>
                  <a:srgbClr val="0D0D0D"/>
                </a:solidFill>
                <a:latin typeface="Söhne"/>
              </a:rPr>
              <a:t>To make it more appealing and Interesting to the learner I added filters so they can explore, compare, and analyze the data</a:t>
            </a:r>
            <a:endParaRPr lang="en-US" b="0" i="0" dirty="0">
              <a:solidFill>
                <a:srgbClr val="0D0D0D"/>
              </a:solidFill>
              <a:effectLst/>
              <a:latin typeface="Söhne"/>
            </a:endParaRPr>
          </a:p>
          <a:p>
            <a:pPr marL="0" indent="0">
              <a:buNone/>
            </a:pPr>
            <a:endParaRPr lang="en-US" dirty="0"/>
          </a:p>
        </p:txBody>
      </p:sp>
    </p:spTree>
    <p:extLst>
      <p:ext uri="{BB962C8B-B14F-4D97-AF65-F5344CB8AC3E}">
        <p14:creationId xmlns:p14="http://schemas.microsoft.com/office/powerpoint/2010/main" val="408130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E9F3-9C2E-4756-A9CC-68F28B449338}"/>
              </a:ext>
            </a:extLst>
          </p:cNvPr>
          <p:cNvSpPr>
            <a:spLocks noGrp="1"/>
          </p:cNvSpPr>
          <p:nvPr>
            <p:ph type="title"/>
          </p:nvPr>
        </p:nvSpPr>
        <p:spPr/>
        <p:txBody>
          <a:bodyPr/>
          <a:lstStyle/>
          <a:p>
            <a:r>
              <a:rPr lang="en-US" b="1" dirty="0">
                <a:solidFill>
                  <a:srgbClr val="0D0D0D"/>
                </a:solidFill>
                <a:latin typeface="Söhne"/>
              </a:rPr>
              <a:t>Conclusion and </a:t>
            </a:r>
            <a:r>
              <a:rPr lang="en-US" b="1" i="0" dirty="0">
                <a:solidFill>
                  <a:srgbClr val="0D0D0D"/>
                </a:solidFill>
                <a:effectLst/>
                <a:latin typeface="Söhne"/>
              </a:rPr>
              <a:t>Future Work</a:t>
            </a:r>
            <a:br>
              <a:rPr lang="en-US" b="1" i="0" dirty="0">
                <a:solidFill>
                  <a:srgbClr val="0D0D0D"/>
                </a:solidFill>
                <a:effectLst/>
                <a:latin typeface="Söhne"/>
              </a:rPr>
            </a:br>
            <a:endParaRPr lang="en-US" dirty="0"/>
          </a:p>
        </p:txBody>
      </p:sp>
      <p:sp>
        <p:nvSpPr>
          <p:cNvPr id="3" name="Content Placeholder 2">
            <a:extLst>
              <a:ext uri="{FF2B5EF4-FFF2-40B4-BE49-F238E27FC236}">
                <a16:creationId xmlns:a16="http://schemas.microsoft.com/office/drawing/2014/main" id="{AE435D0D-B5AC-4248-ABD7-42DC5EC20B48}"/>
              </a:ext>
            </a:extLst>
          </p:cNvPr>
          <p:cNvSpPr>
            <a:spLocks noGrp="1"/>
          </p:cNvSpPr>
          <p:nvPr>
            <p:ph idx="1"/>
          </p:nvPr>
        </p:nvSpPr>
        <p:spPr/>
        <p:txBody>
          <a:bodyPr/>
          <a:lstStyle/>
          <a:p>
            <a:pPr marL="0" indent="0" algn="l">
              <a:buNone/>
            </a:pPr>
            <a:r>
              <a:rPr lang="en-US" b="1" i="0" dirty="0">
                <a:solidFill>
                  <a:schemeClr val="bg2">
                    <a:lumMod val="50000"/>
                  </a:schemeClr>
                </a:solidFill>
                <a:effectLst/>
                <a:latin typeface="Söhne"/>
              </a:rPr>
              <a:t>Summary of key findings and takeaways.</a:t>
            </a:r>
          </a:p>
          <a:p>
            <a:pPr algn="l">
              <a:buFont typeface="Arial" panose="020B0604020202020204" pitchFamily="34" charset="0"/>
              <a:buChar char="•"/>
            </a:pPr>
            <a:r>
              <a:rPr lang="en-US" dirty="0">
                <a:solidFill>
                  <a:srgbClr val="0D0D0D"/>
                </a:solidFill>
                <a:latin typeface="Söhne"/>
              </a:rPr>
              <a:t> I think many of us have not thought that the GDP of a nation can be one of the major causes for the suicide rates as well.</a:t>
            </a:r>
          </a:p>
          <a:p>
            <a:pPr algn="l">
              <a:buFont typeface="Arial" panose="020B0604020202020204" pitchFamily="34" charset="0"/>
              <a:buChar char="•"/>
            </a:pPr>
            <a:r>
              <a:rPr lang="en-US" dirty="0">
                <a:solidFill>
                  <a:srgbClr val="0D0D0D"/>
                </a:solidFill>
                <a:latin typeface="Söhne"/>
              </a:rPr>
              <a:t> We learn which generation attempts more suicides</a:t>
            </a:r>
            <a:endParaRPr lang="en-US" b="0" i="0" dirty="0">
              <a:solidFill>
                <a:srgbClr val="0D0D0D"/>
              </a:solidFill>
              <a:effectLst/>
              <a:latin typeface="Söhne"/>
            </a:endParaRPr>
          </a:p>
          <a:p>
            <a:pPr marL="0" indent="0" algn="l">
              <a:buNone/>
            </a:pPr>
            <a:r>
              <a:rPr lang="en-US" b="1" i="0" dirty="0">
                <a:solidFill>
                  <a:schemeClr val="bg2">
                    <a:lumMod val="50000"/>
                  </a:schemeClr>
                </a:solidFill>
                <a:effectLst/>
                <a:latin typeface="Söhne"/>
              </a:rPr>
              <a:t>Areas for further exploration or analysis.</a:t>
            </a:r>
          </a:p>
          <a:p>
            <a:pPr algn="l">
              <a:buFont typeface="Arial" panose="020B0604020202020204" pitchFamily="34" charset="0"/>
              <a:buChar char="•"/>
            </a:pPr>
            <a:r>
              <a:rPr lang="en-US" dirty="0">
                <a:solidFill>
                  <a:srgbClr val="0D0D0D"/>
                </a:solidFill>
                <a:latin typeface="Söhne"/>
              </a:rPr>
              <a:t> If I get another cause of suicides as well it might be interesting to do some permutation and combination and it will be great if we are able to find the biggest cause of the suicides so we can try to minimize it. </a:t>
            </a:r>
          </a:p>
          <a:p>
            <a:pPr algn="l">
              <a:buFont typeface="Arial" panose="020B0604020202020204" pitchFamily="34" charset="0"/>
              <a:buChar char="•"/>
            </a:pPr>
            <a:r>
              <a:rPr lang="en-US" b="0" i="0" dirty="0">
                <a:solidFill>
                  <a:srgbClr val="0D0D0D"/>
                </a:solidFill>
                <a:effectLst/>
                <a:latin typeface="Söhne"/>
              </a:rPr>
              <a:t> WE can always try to make the visualization more attractive </a:t>
            </a:r>
          </a:p>
          <a:p>
            <a:endParaRPr lang="en-US" dirty="0"/>
          </a:p>
        </p:txBody>
      </p:sp>
    </p:spTree>
    <p:extLst>
      <p:ext uri="{BB962C8B-B14F-4D97-AF65-F5344CB8AC3E}">
        <p14:creationId xmlns:p14="http://schemas.microsoft.com/office/powerpoint/2010/main" val="3156190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F5DA7-D4AA-7038-1A68-017C5F6E1103}"/>
              </a:ext>
            </a:extLst>
          </p:cNvPr>
          <p:cNvSpPr>
            <a:spLocks noGrp="1"/>
          </p:cNvSpPr>
          <p:nvPr>
            <p:ph type="title"/>
          </p:nvPr>
        </p:nvSpPr>
        <p:spPr/>
        <p:txBody>
          <a:bodyPr/>
          <a:lstStyle/>
          <a:p>
            <a:r>
              <a:rPr lang="en-IN" dirty="0"/>
              <a:t>REFERENCES </a:t>
            </a:r>
          </a:p>
        </p:txBody>
      </p:sp>
      <p:sp>
        <p:nvSpPr>
          <p:cNvPr id="3" name="Content Placeholder 2">
            <a:extLst>
              <a:ext uri="{FF2B5EF4-FFF2-40B4-BE49-F238E27FC236}">
                <a16:creationId xmlns:a16="http://schemas.microsoft.com/office/drawing/2014/main" id="{9ED16F8F-C60F-9701-94B3-BA34256A6C42}"/>
              </a:ext>
            </a:extLst>
          </p:cNvPr>
          <p:cNvSpPr>
            <a:spLocks noGrp="1"/>
          </p:cNvSpPr>
          <p:nvPr>
            <p:ph idx="1"/>
          </p:nvPr>
        </p:nvSpPr>
        <p:spPr/>
        <p:txBody>
          <a:bodyPr/>
          <a:lstStyle/>
          <a:p>
            <a:r>
              <a:rPr lang="en-US" dirty="0"/>
              <a:t>Suicide Rates Overview (1985 to 2021) (kaggle.com)</a:t>
            </a:r>
          </a:p>
          <a:p>
            <a:endParaRPr lang="en-US" dirty="0"/>
          </a:p>
          <a:p>
            <a:endParaRPr lang="en-IN" dirty="0"/>
          </a:p>
        </p:txBody>
      </p:sp>
    </p:spTree>
    <p:extLst>
      <p:ext uri="{BB962C8B-B14F-4D97-AF65-F5344CB8AC3E}">
        <p14:creationId xmlns:p14="http://schemas.microsoft.com/office/powerpoint/2010/main" val="2188247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C75CB-E5D0-4AB9-82A0-557AD07F683D}"/>
              </a:ext>
            </a:extLst>
          </p:cNvPr>
          <p:cNvSpPr>
            <a:spLocks noGrp="1"/>
          </p:cNvSpPr>
          <p:nvPr>
            <p:ph type="title"/>
          </p:nvPr>
        </p:nvSpPr>
        <p:spPr/>
        <p:txBody>
          <a:bodyPr/>
          <a:lstStyle/>
          <a:p>
            <a:r>
              <a:rPr lang="en-US" b="1" dirty="0">
                <a:solidFill>
                  <a:srgbClr val="0D0D0D"/>
                </a:solidFill>
                <a:latin typeface="Söhne"/>
              </a:rPr>
              <a:t>                         </a:t>
            </a:r>
            <a:br>
              <a:rPr lang="en-US" b="1" i="0" dirty="0">
                <a:solidFill>
                  <a:srgbClr val="0D0D0D"/>
                </a:solidFill>
                <a:effectLst/>
                <a:latin typeface="Söhne"/>
              </a:rPr>
            </a:br>
            <a:r>
              <a:rPr lang="en-US" b="1" dirty="0">
                <a:solidFill>
                  <a:srgbClr val="0D0D0D"/>
                </a:solidFill>
                <a:latin typeface="Söhne"/>
              </a:rPr>
              <a:t>                          THANK YOU </a:t>
            </a:r>
            <a:endParaRPr lang="en-US" dirty="0"/>
          </a:p>
        </p:txBody>
      </p:sp>
      <p:sp>
        <p:nvSpPr>
          <p:cNvPr id="7" name="Content Placeholder 6">
            <a:extLst>
              <a:ext uri="{FF2B5EF4-FFF2-40B4-BE49-F238E27FC236}">
                <a16:creationId xmlns:a16="http://schemas.microsoft.com/office/drawing/2014/main" id="{C4B94265-3D89-F7AE-CA00-E847DB98F9D2}"/>
              </a:ext>
            </a:extLst>
          </p:cNvPr>
          <p:cNvSpPr>
            <a:spLocks noGrp="1"/>
          </p:cNvSpPr>
          <p:nvPr>
            <p:ph idx="1"/>
          </p:nvPr>
        </p:nvSpPr>
        <p:spPr/>
        <p:txBody>
          <a:bodyPr/>
          <a:lstStyle/>
          <a:p>
            <a:r>
              <a:rPr lang="en-IN" dirty="0"/>
              <a:t>.</a:t>
            </a:r>
          </a:p>
        </p:txBody>
      </p:sp>
    </p:spTree>
    <p:extLst>
      <p:ext uri="{BB962C8B-B14F-4D97-AF65-F5344CB8AC3E}">
        <p14:creationId xmlns:p14="http://schemas.microsoft.com/office/powerpoint/2010/main" val="329447748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BDE3B701E79084087A3926126342BC0" ma:contentTypeVersion="4" ma:contentTypeDescription="Create a new document." ma:contentTypeScope="" ma:versionID="1c5713f5813867f4fa37718ec2e4023b">
  <xsd:schema xmlns:xsd="http://www.w3.org/2001/XMLSchema" xmlns:xs="http://www.w3.org/2001/XMLSchema" xmlns:p="http://schemas.microsoft.com/office/2006/metadata/properties" xmlns:ns3="2abf5a5b-1177-42c2-bf65-b13064a19a40" targetNamespace="http://schemas.microsoft.com/office/2006/metadata/properties" ma:root="true" ma:fieldsID="f5f0d6c19e75719052283088b6685240" ns3:_="">
    <xsd:import namespace="2abf5a5b-1177-42c2-bf65-b13064a19a40"/>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abf5a5b-1177-42c2-bf65-b13064a19a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6B43C33-3080-427D-8AD3-FEDD56AEF13F}">
  <ds:schemaRefs>
    <ds:schemaRef ds:uri="http://schemas.microsoft.com/sharepoint/v3/contenttype/forms"/>
  </ds:schemaRefs>
</ds:datastoreItem>
</file>

<file path=customXml/itemProps2.xml><?xml version="1.0" encoding="utf-8"?>
<ds:datastoreItem xmlns:ds="http://schemas.openxmlformats.org/officeDocument/2006/customXml" ds:itemID="{EC3A6F61-6303-4E4A-AF64-5B73E7D5823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abf5a5b-1177-42c2-bf65-b13064a19a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9F0EA9E-420A-45A4-ABA6-96A16805D355}">
  <ds:schemaRefs>
    <ds:schemaRef ds:uri="http://schemas.microsoft.com/office/2006/metadata/properties"/>
    <ds:schemaRef ds:uri="2abf5a5b-1177-42c2-bf65-b13064a19a40"/>
    <ds:schemaRef ds:uri="http://purl.org/dc/elements/1.1/"/>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vishesh</Template>
  <TotalTime>1269</TotalTime>
  <Words>594</Words>
  <Application>Microsoft Office PowerPoint</Application>
  <PresentationFormat>Widescreen</PresentationFormat>
  <Paragraphs>55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Söhne</vt:lpstr>
      <vt:lpstr>Retrospect</vt:lpstr>
      <vt:lpstr>Visual Analytics Final Project Presentation  “Exploring Global Trends in Suicide Rates” </vt:lpstr>
      <vt:lpstr>Introduction</vt:lpstr>
      <vt:lpstr>Project Goals</vt:lpstr>
      <vt:lpstr>Data Overview </vt:lpstr>
      <vt:lpstr>Visualization Walkthrough In Dashboard </vt:lpstr>
      <vt:lpstr>DIFFERENT TYPES OF GENERATION </vt:lpstr>
      <vt:lpstr>Insights and Analysis </vt:lpstr>
      <vt:lpstr>Challenges Faced </vt:lpstr>
      <vt:lpstr>Conclusion and Future Work </vt:lpstr>
      <vt:lpstr>REFERENCES </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 Analytics Midterm Project Presentation  “Exploring Global Trends in Suicide Rates”</dc:title>
  <dc:creator>Patel, Vishesh Shitalkumar</dc:creator>
  <cp:lastModifiedBy>VISHESH PATEL - 40315200043</cp:lastModifiedBy>
  <cp:revision>5</cp:revision>
  <dcterms:created xsi:type="dcterms:W3CDTF">2024-03-22T23:07:23Z</dcterms:created>
  <dcterms:modified xsi:type="dcterms:W3CDTF">2024-05-03T20:45:21Z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0x010100DBDE3B701E79084087A3926126342BC0</vt:lpwstr>
  </property>
</Properties>
</file>